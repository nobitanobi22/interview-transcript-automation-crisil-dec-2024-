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24" r:id="rId2"/>
    <p:sldId id="327" r:id="rId3"/>
    <p:sldId id="32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023AA-BF19-4DA9-8FA0-E0DDD9F1A405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9F7F0-E4B7-45C4-A1E4-73FB79921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52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7"/>
          <p:cNvGrpSpPr/>
          <p:nvPr/>
        </p:nvGrpSpPr>
        <p:grpSpPr>
          <a:xfrm>
            <a:off x="-242617" y="-1568800"/>
            <a:ext cx="12101901" cy="8671535"/>
            <a:chOff x="-181963" y="-1176600"/>
            <a:chExt cx="9076426" cy="6503651"/>
          </a:xfrm>
        </p:grpSpPr>
        <p:pic>
          <p:nvPicPr>
            <p:cNvPr id="61" name="Google Shape;61;p7"/>
            <p:cNvPicPr preferRelativeResize="0"/>
            <p:nvPr/>
          </p:nvPicPr>
          <p:blipFill rotWithShape="1">
            <a:blip r:embed="rId2">
              <a:alphaModFix/>
            </a:blip>
            <a:srcRect l="1561" t="18728" r="5466" b="10005"/>
            <a:stretch/>
          </p:blipFill>
          <p:spPr>
            <a:xfrm>
              <a:off x="-181963" y="183550"/>
              <a:ext cx="4878638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7"/>
            <p:cNvPicPr preferRelativeResize="0"/>
            <p:nvPr/>
          </p:nvPicPr>
          <p:blipFill rotWithShape="1">
            <a:blip r:embed="rId3">
              <a:alphaModFix/>
            </a:blip>
            <a:srcRect l="35208" t="14033" r="52947" b="8901"/>
            <a:stretch/>
          </p:blipFill>
          <p:spPr>
            <a:xfrm flipH="1">
              <a:off x="8755749" y="-1176600"/>
              <a:ext cx="138700" cy="3176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 rotWithShape="1">
            <a:blip r:embed="rId4">
              <a:alphaModFix/>
            </a:blip>
            <a:srcRect l="26463" t="16201" r="16575" b="6056"/>
            <a:stretch/>
          </p:blipFill>
          <p:spPr>
            <a:xfrm flipH="1">
              <a:off x="8480862" y="4674000"/>
              <a:ext cx="413601" cy="380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7"/>
            <p:cNvPicPr preferRelativeResize="0"/>
            <p:nvPr/>
          </p:nvPicPr>
          <p:blipFill rotWithShape="1">
            <a:blip r:embed="rId5">
              <a:alphaModFix amt="56000"/>
            </a:blip>
            <a:srcRect l="71720" t="63138" r="2554" b="-222"/>
            <a:stretch/>
          </p:blipFill>
          <p:spPr>
            <a:xfrm rot="10800000">
              <a:off x="-12" y="2415774"/>
              <a:ext cx="2888750" cy="2720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7"/>
          <p:cNvSpPr txBox="1">
            <a:spLocks noGrp="1"/>
          </p:cNvSpPr>
          <p:nvPr>
            <p:ph type="subTitle" idx="1"/>
          </p:nvPr>
        </p:nvSpPr>
        <p:spPr>
          <a:xfrm>
            <a:off x="5514567" y="2406933"/>
            <a:ext cx="5726400" cy="2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950967" y="73328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1052567" y="1884000"/>
            <a:ext cx="3641600" cy="36492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830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1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-1216490" y="-602200"/>
            <a:ext cx="13408495" cy="9905627"/>
            <a:chOff x="-912368" y="-451650"/>
            <a:chExt cx="10056371" cy="7429220"/>
          </a:xfrm>
        </p:grpSpPr>
        <p:pic>
          <p:nvPicPr>
            <p:cNvPr id="230" name="Google Shape;230;p25"/>
            <p:cNvPicPr preferRelativeResize="0"/>
            <p:nvPr/>
          </p:nvPicPr>
          <p:blipFill rotWithShape="1">
            <a:blip r:embed="rId2">
              <a:alphaModFix/>
            </a:blip>
            <a:srcRect l="35208" t="14033" r="52947" b="8901"/>
            <a:stretch/>
          </p:blipFill>
          <p:spPr>
            <a:xfrm flipH="1">
              <a:off x="285965" y="-451650"/>
              <a:ext cx="146599" cy="33577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 rotWithShape="1">
            <a:blip r:embed="rId3">
              <a:alphaModFix amt="56000"/>
            </a:blip>
            <a:srcRect l="71720" t="63138" r="2554" b="-222"/>
            <a:stretch/>
          </p:blipFill>
          <p:spPr>
            <a:xfrm rot="1479120" flipH="1">
              <a:off x="-476649" y="3778611"/>
              <a:ext cx="2888751" cy="2720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5"/>
            <p:cNvPicPr preferRelativeResize="0"/>
            <p:nvPr/>
          </p:nvPicPr>
          <p:blipFill rotWithShape="1">
            <a:blip r:embed="rId4">
              <a:alphaModFix/>
            </a:blip>
            <a:srcRect l="53352" t="5802" r="-1527" b="47774"/>
            <a:stretch/>
          </p:blipFill>
          <p:spPr>
            <a:xfrm rot="-5400000">
              <a:off x="6603839" y="2603338"/>
              <a:ext cx="2184650" cy="28956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p25"/>
          <p:cNvSpPr txBox="1">
            <a:spLocks noGrp="1"/>
          </p:cNvSpPr>
          <p:nvPr>
            <p:ph type="subTitle" idx="1"/>
          </p:nvPr>
        </p:nvSpPr>
        <p:spPr>
          <a:xfrm>
            <a:off x="6597009" y="2223500"/>
            <a:ext cx="40544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2"/>
          </p:nvPr>
        </p:nvSpPr>
        <p:spPr>
          <a:xfrm>
            <a:off x="1540591" y="2223500"/>
            <a:ext cx="4054400" cy="32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title"/>
          </p:nvPr>
        </p:nvSpPr>
        <p:spPr>
          <a:xfrm>
            <a:off x="950967" y="733280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4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878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350200" y="-113205"/>
            <a:ext cx="11956720" cy="6020136"/>
            <a:chOff x="262650" y="-84904"/>
            <a:chExt cx="8967540" cy="4515102"/>
          </a:xfrm>
        </p:grpSpPr>
        <p:grpSp>
          <p:nvGrpSpPr>
            <p:cNvPr id="324" name="Google Shape;324;p33"/>
            <p:cNvGrpSpPr/>
            <p:nvPr/>
          </p:nvGrpSpPr>
          <p:grpSpPr>
            <a:xfrm>
              <a:off x="262650" y="-84904"/>
              <a:ext cx="8967540" cy="4515102"/>
              <a:chOff x="262650" y="-84904"/>
              <a:chExt cx="8967540" cy="4515102"/>
            </a:xfrm>
          </p:grpSpPr>
          <p:pic>
            <p:nvPicPr>
              <p:cNvPr id="325" name="Google Shape;325;p33"/>
              <p:cNvPicPr preferRelativeResize="0"/>
              <p:nvPr/>
            </p:nvPicPr>
            <p:blipFill rotWithShape="1">
              <a:blip r:embed="rId2">
                <a:alphaModFix amt="56000"/>
              </a:blip>
              <a:srcRect l="71720" t="63138" r="2554" b="-222"/>
              <a:stretch/>
            </p:blipFill>
            <p:spPr>
              <a:xfrm flipH="1">
                <a:off x="6341440" y="-84904"/>
                <a:ext cx="2888750" cy="27204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6" name="Google Shape;326;p33"/>
              <p:cNvPicPr preferRelativeResize="0"/>
              <p:nvPr/>
            </p:nvPicPr>
            <p:blipFill rotWithShape="1">
              <a:blip r:embed="rId3">
                <a:alphaModFix/>
              </a:blip>
              <a:srcRect l="35208" t="14033" r="52947" b="8901"/>
              <a:stretch/>
            </p:blipFill>
            <p:spPr>
              <a:xfrm>
                <a:off x="262650" y="1072400"/>
                <a:ext cx="146599" cy="33577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7" name="Google Shape;32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783372" y="208834"/>
              <a:ext cx="1327250" cy="8913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98701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33280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SemiBold"/>
              <a:buNone/>
              <a:defRPr sz="3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98467"/>
            <a:ext cx="10290000" cy="45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4418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CA6D35-49EF-3086-8AEB-7FB666D64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070"/>
          </a:xfrm>
          <a:prstGeom prst="rect">
            <a:avLst/>
          </a:prstGeom>
        </p:spPr>
      </p:pic>
      <p:sp>
        <p:nvSpPr>
          <p:cNvPr id="4" name="Google Shape;384;p42">
            <a:extLst>
              <a:ext uri="{FF2B5EF4-FFF2-40B4-BE49-F238E27FC236}">
                <a16:creationId xmlns:a16="http://schemas.microsoft.com/office/drawing/2014/main" id="{82C7279B-FCFB-760A-84BB-956ACE5503A5}"/>
              </a:ext>
            </a:extLst>
          </p:cNvPr>
          <p:cNvSpPr txBox="1">
            <a:spLocks/>
          </p:cNvSpPr>
          <p:nvPr/>
        </p:nvSpPr>
        <p:spPr>
          <a:xfrm>
            <a:off x="2326052" y="382131"/>
            <a:ext cx="4726744" cy="1968324"/>
          </a:xfrm>
          <a:prstGeom prst="roundRect">
            <a:avLst/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0" indent="0" algn="just">
              <a:buFont typeface="Onest"/>
              <a:buNone/>
            </a:pPr>
            <a:r>
              <a:rPr lang="en-US" sz="1800" kern="0" dirty="0">
                <a:solidFill>
                  <a:schemeClr val="tx1"/>
                </a:solidFill>
              </a:rPr>
              <a:t>Team Leader                                        Member</a:t>
            </a:r>
          </a:p>
          <a:p>
            <a:pPr marL="0" indent="0" algn="just">
              <a:buFont typeface="Onest"/>
              <a:buNone/>
            </a:pPr>
            <a:r>
              <a:rPr lang="en-US" sz="1800" kern="0" dirty="0">
                <a:solidFill>
                  <a:schemeClr val="tx1"/>
                </a:solidFill>
              </a:rPr>
              <a:t>Kumari Ankita                           Khusboo Kumari</a:t>
            </a:r>
          </a:p>
          <a:p>
            <a:pPr marL="0" indent="0" algn="just">
              <a:buFont typeface="Onest"/>
              <a:buNone/>
            </a:pPr>
            <a:r>
              <a:rPr lang="en-US" sz="1800" kern="0" dirty="0">
                <a:solidFill>
                  <a:schemeClr val="tx1"/>
                </a:solidFill>
              </a:rPr>
              <a:t>2201ME39                                             2201CE25</a:t>
            </a:r>
          </a:p>
          <a:p>
            <a:pPr marL="0" indent="0" algn="just">
              <a:buFont typeface="Onest"/>
              <a:buNone/>
            </a:pPr>
            <a:r>
              <a:rPr lang="en-US" sz="1800" kern="0" dirty="0">
                <a:solidFill>
                  <a:schemeClr val="tx1"/>
                </a:solidFill>
              </a:rPr>
              <a:t>Mechanical                                                      Civil</a:t>
            </a:r>
          </a:p>
          <a:p>
            <a:pPr marL="0" indent="0" algn="just">
              <a:buNone/>
            </a:pPr>
            <a:r>
              <a:rPr lang="en-US" sz="1800" kern="0" dirty="0">
                <a:solidFill>
                  <a:schemeClr val="tx1"/>
                </a:solidFill>
              </a:rPr>
              <a:t>Indian Institute of Technology, Patna</a:t>
            </a:r>
          </a:p>
          <a:p>
            <a:pPr marL="0" indent="0" algn="just">
              <a:buNone/>
            </a:pPr>
            <a:r>
              <a:rPr lang="en-US" sz="1800" kern="0" dirty="0">
                <a:solidFill>
                  <a:schemeClr val="tx1"/>
                </a:solidFill>
              </a:rPr>
              <a:t>[Backend, Ideation]                            [Frontend]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4E87EE-7B0F-24C1-809C-1BB7BB5E7061}"/>
              </a:ext>
            </a:extLst>
          </p:cNvPr>
          <p:cNvSpPr/>
          <p:nvPr/>
        </p:nvSpPr>
        <p:spPr>
          <a:xfrm>
            <a:off x="3261528" y="196863"/>
            <a:ext cx="2819445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Team Description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6" name="Google Shape;384;p42">
            <a:extLst>
              <a:ext uri="{FF2B5EF4-FFF2-40B4-BE49-F238E27FC236}">
                <a16:creationId xmlns:a16="http://schemas.microsoft.com/office/drawing/2014/main" id="{2AC5A7C1-8295-07C2-635C-CF883D9403A1}"/>
              </a:ext>
            </a:extLst>
          </p:cNvPr>
          <p:cNvSpPr txBox="1">
            <a:spLocks/>
          </p:cNvSpPr>
          <p:nvPr/>
        </p:nvSpPr>
        <p:spPr>
          <a:xfrm>
            <a:off x="7268308" y="371144"/>
            <a:ext cx="4726744" cy="1901451"/>
          </a:xfrm>
          <a:prstGeom prst="roundRect">
            <a:avLst/>
          </a:prstGeom>
          <a:solidFill>
            <a:schemeClr val="bg2">
              <a:lumMod val="20000"/>
              <a:lumOff val="80000"/>
              <a:alpha val="25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16086" indent="0" algn="ctr" defTabSz="1219170">
              <a:spcBef>
                <a:spcPts val="433"/>
              </a:spcBef>
              <a:buClr>
                <a:srgbClr val="FFFFFF"/>
              </a:buClr>
              <a:buNone/>
              <a:tabLst>
                <a:tab pos="321725" algn="l"/>
              </a:tabLst>
            </a:pP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Automating</a:t>
            </a:r>
            <a:r>
              <a:rPr lang="en-US" sz="1600" kern="0" spc="20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the</a:t>
            </a:r>
            <a:r>
              <a:rPr lang="en-US" sz="1600" kern="0" spc="20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Information</a:t>
            </a:r>
            <a:r>
              <a:rPr lang="en-US" sz="1600" kern="0" spc="2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Extraction</a:t>
            </a:r>
            <a:r>
              <a:rPr lang="en-US" sz="1600" kern="0" spc="2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from</a:t>
            </a:r>
            <a:r>
              <a:rPr lang="en-US" sz="1600" kern="0" spc="40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Semi-Structured</a:t>
            </a:r>
            <a:r>
              <a:rPr lang="en-US" sz="1600" kern="0" spc="40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Interview</a:t>
            </a:r>
            <a:r>
              <a:rPr lang="en-US" sz="1600" kern="0" spc="33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 </a:t>
            </a: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"/>
              </a:rPr>
              <a:t>Transcripts:</a:t>
            </a:r>
          </a:p>
          <a:p>
            <a:pPr marL="16086" indent="0" algn="ctr" defTabSz="1219170">
              <a:spcBef>
                <a:spcPts val="433"/>
              </a:spcBef>
              <a:buClr>
                <a:srgbClr val="FFFFFF"/>
              </a:buClr>
              <a:buNone/>
              <a:tabLst>
                <a:tab pos="321725" algn="l"/>
              </a:tabLst>
            </a:pPr>
            <a:endParaRPr lang="en-US" sz="1867" kern="0" spc="-7" dirty="0">
              <a:solidFill>
                <a:srgbClr val="FFFFFF"/>
              </a:solidFill>
              <a:latin typeface="Onest" panose="020B0604020202020204" charset="0"/>
              <a:cs typeface="Arial"/>
            </a:endParaRPr>
          </a:p>
          <a:p>
            <a:pPr marL="16086" indent="0" algn="ctr" defTabSz="1219170">
              <a:spcBef>
                <a:spcPts val="433"/>
              </a:spcBef>
              <a:buClr>
                <a:srgbClr val="FFFFFF"/>
              </a:buClr>
              <a:buNone/>
              <a:tabLst>
                <a:tab pos="321725" algn="l"/>
              </a:tabLst>
            </a:pPr>
            <a:r>
              <a:rPr lang="en-US" sz="1600" kern="0" spc="-7" dirty="0">
                <a:solidFill>
                  <a:srgbClr val="FFFFFF"/>
                </a:solidFill>
                <a:latin typeface="Onest" panose="020B0604020202020204" charset="0"/>
                <a:cs typeface="Arial MT"/>
              </a:rPr>
              <a:t>It aligns with my experience in data analysis and is a real-world issue faced by researchers thus I chose this problem statement.</a:t>
            </a:r>
          </a:p>
          <a:p>
            <a:pPr marL="0" indent="0" algn="just" defTabSz="1219170">
              <a:buClr>
                <a:srgbClr val="FFFFFF"/>
              </a:buClr>
              <a:buNone/>
            </a:pPr>
            <a:endParaRPr lang="en-US" sz="1867" kern="0" dirty="0">
              <a:solidFill>
                <a:srgbClr val="000000"/>
              </a:solidFill>
              <a:latin typeface="Onest" panose="020B060402020202020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1074D3-17EC-5E61-275E-97989E0D78B8}"/>
              </a:ext>
            </a:extLst>
          </p:cNvPr>
          <p:cNvSpPr/>
          <p:nvPr/>
        </p:nvSpPr>
        <p:spPr>
          <a:xfrm>
            <a:off x="8051410" y="147668"/>
            <a:ext cx="3160541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Problem Statement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8" name="Google Shape;384;p42">
            <a:extLst>
              <a:ext uri="{FF2B5EF4-FFF2-40B4-BE49-F238E27FC236}">
                <a16:creationId xmlns:a16="http://schemas.microsoft.com/office/drawing/2014/main" id="{FF76C2D8-DD97-E616-7B9D-EB7BEF6368DC}"/>
              </a:ext>
            </a:extLst>
          </p:cNvPr>
          <p:cNvSpPr txBox="1">
            <a:spLocks/>
          </p:cNvSpPr>
          <p:nvPr/>
        </p:nvSpPr>
        <p:spPr>
          <a:xfrm>
            <a:off x="2307879" y="2640124"/>
            <a:ext cx="4851678" cy="3075110"/>
          </a:xfrm>
          <a:prstGeom prst="roundRect">
            <a:avLst/>
          </a:prstGeom>
          <a:solidFill>
            <a:srgbClr val="FFFFFF">
              <a:alpha val="22000"/>
            </a:srgb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b="1" u="sng" kern="0" dirty="0">
                <a:solidFill>
                  <a:srgbClr val="FFFFFF"/>
                </a:solidFill>
              </a:rPr>
              <a:t>Time Efficiency:</a:t>
            </a:r>
          </a:p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kern="0" dirty="0">
                <a:solidFill>
                  <a:srgbClr val="FFFFFF"/>
                </a:solidFill>
              </a:rPr>
              <a:t>Automation can save hours of manual effort involved in reading, analyzing, and summarizing transcripts, especially for lengthy or large dataset.</a:t>
            </a:r>
          </a:p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b="1" u="sng" kern="0" dirty="0">
                <a:solidFill>
                  <a:srgbClr val="FFFFFF"/>
                </a:solidFill>
              </a:rPr>
              <a:t>Cost Savings</a:t>
            </a:r>
            <a:r>
              <a:rPr lang="en-US" sz="1500" u="sng" kern="0" dirty="0">
                <a:solidFill>
                  <a:srgbClr val="FFFFFF"/>
                </a:solidFill>
              </a:rPr>
              <a:t>:</a:t>
            </a:r>
          </a:p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kern="0" dirty="0">
                <a:solidFill>
                  <a:srgbClr val="FFFFFF"/>
                </a:solidFill>
              </a:rPr>
              <a:t>Cuts down on the need for a large team of human annotators or analysts.</a:t>
            </a:r>
          </a:p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b="1" u="sng" kern="0" dirty="0">
                <a:solidFill>
                  <a:srgbClr val="FFFFFF"/>
                </a:solidFill>
              </a:rPr>
              <a:t>Enhanced Accessibility</a:t>
            </a:r>
            <a:r>
              <a:rPr lang="en-US" sz="1500" u="sng" kern="0" dirty="0">
                <a:solidFill>
                  <a:srgbClr val="FFFFFF"/>
                </a:solidFill>
              </a:rPr>
              <a:t>:</a:t>
            </a:r>
          </a:p>
          <a:p>
            <a:pPr marL="203195" indent="0" defTabSz="1219170">
              <a:buClr>
                <a:srgbClr val="FFFFFF"/>
              </a:buClr>
              <a:buNone/>
            </a:pPr>
            <a:r>
              <a:rPr lang="en-US" sz="1500" kern="0" dirty="0">
                <a:solidFill>
                  <a:srgbClr val="FFFFFF"/>
                </a:solidFill>
              </a:rPr>
              <a:t>Summarized or categorized data makes it easier for non-experts to understand key insights without diving into raw transcripts.</a:t>
            </a:r>
          </a:p>
          <a:p>
            <a:pPr marL="203195" indent="0" defTabSz="1219170">
              <a:buClr>
                <a:srgbClr val="FFFFFF"/>
              </a:buClr>
              <a:buNone/>
            </a:pPr>
            <a:endParaRPr lang="en-US" sz="1400" kern="0" dirty="0">
              <a:solidFill>
                <a:srgbClr val="000000"/>
              </a:solidFill>
            </a:endParaRPr>
          </a:p>
          <a:p>
            <a:pPr marL="609585" indent="-406390" defTabSz="1219170"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000000"/>
              </a:solidFill>
            </a:endParaRPr>
          </a:p>
          <a:p>
            <a:pPr marL="0" indent="0" algn="just" defTabSz="1219170">
              <a:buClr>
                <a:srgbClr val="FFFFFF"/>
              </a:buClr>
              <a:buNone/>
            </a:pPr>
            <a:endParaRPr lang="en-US" sz="1400" kern="0" dirty="0">
              <a:solidFill>
                <a:srgbClr val="000000"/>
              </a:solidFill>
              <a:latin typeface="Onest" panose="020B060402020202020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61095A-2AF6-71CF-A1D1-AF85DB24378C}"/>
              </a:ext>
            </a:extLst>
          </p:cNvPr>
          <p:cNvSpPr/>
          <p:nvPr/>
        </p:nvSpPr>
        <p:spPr>
          <a:xfrm>
            <a:off x="3022548" y="2461888"/>
            <a:ext cx="3160541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Benefits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0" name="Google Shape;384;p42">
            <a:extLst>
              <a:ext uri="{FF2B5EF4-FFF2-40B4-BE49-F238E27FC236}">
                <a16:creationId xmlns:a16="http://schemas.microsoft.com/office/drawing/2014/main" id="{53B5900B-57C2-42B5-079B-A1D01A285C7B}"/>
              </a:ext>
            </a:extLst>
          </p:cNvPr>
          <p:cNvSpPr txBox="1">
            <a:spLocks/>
          </p:cNvSpPr>
          <p:nvPr/>
        </p:nvSpPr>
        <p:spPr>
          <a:xfrm>
            <a:off x="2307879" y="6030351"/>
            <a:ext cx="9687173" cy="703384"/>
          </a:xfrm>
          <a:prstGeom prst="roundRect">
            <a:avLst>
              <a:gd name="adj" fmla="val 35327"/>
            </a:avLst>
          </a:prstGeom>
          <a:solidFill>
            <a:srgbClr val="FFFFFF">
              <a:alpha val="22000"/>
            </a:srgb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228594" indent="-228594" algn="just" defTabSz="1219170">
              <a:buClr>
                <a:srgbClr val="FFFFFF"/>
              </a:buClr>
            </a:pPr>
            <a:r>
              <a:rPr lang="en-IN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</a:rPr>
              <a:t>     Researchers in </a:t>
            </a:r>
            <a:r>
              <a:rPr lang="en-IN" sz="14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</a:rPr>
              <a:t>social sciences, business analytics, healthcare, HR</a:t>
            </a:r>
          </a:p>
          <a:p>
            <a:pPr marL="228594" indent="-228594" algn="just" defTabSz="1219170">
              <a:buClr>
                <a:srgbClr val="FFFFFF"/>
              </a:buClr>
            </a:pPr>
            <a:r>
              <a:rPr lang="en-IN" sz="1400" kern="0" dirty="0">
                <a:solidFill>
                  <a:srgbClr val="FFFFFF"/>
                </a:solidFill>
                <a:latin typeface="Onest" panose="020B0604020202020204" charset="0"/>
                <a:ea typeface="STCaiyun" panose="02010800040101010101" pitchFamily="2" charset="-122"/>
              </a:rPr>
              <a:t>     Organizations conducting </a:t>
            </a:r>
            <a:r>
              <a:rPr lang="en-IN" sz="1400" b="1" kern="0" dirty="0">
                <a:solidFill>
                  <a:srgbClr val="FFFFFF"/>
                </a:solidFill>
                <a:latin typeface="Onest" panose="020B0604020202020204" charset="0"/>
                <a:ea typeface="STCaiyun" panose="02010800040101010101" pitchFamily="2" charset="-122"/>
              </a:rPr>
              <a:t>market research, surveys, policy analysis like CRISIL</a:t>
            </a:r>
            <a:endParaRPr lang="en-US" sz="1400" kern="0" dirty="0">
              <a:solidFill>
                <a:srgbClr val="000000"/>
              </a:solidFill>
              <a:latin typeface="Onest" panose="020B0604020202020204" charset="0"/>
              <a:ea typeface="STCaiyun" panose="02010800040101010101" pitchFamily="2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223827-AFE2-7684-B8CE-93BE93E52906}"/>
              </a:ext>
            </a:extLst>
          </p:cNvPr>
          <p:cNvSpPr/>
          <p:nvPr/>
        </p:nvSpPr>
        <p:spPr>
          <a:xfrm>
            <a:off x="5552826" y="5843568"/>
            <a:ext cx="3160541" cy="342144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Target Group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300BFA-7A5A-41DF-83A3-EF79451FBBBC}"/>
              </a:ext>
            </a:extLst>
          </p:cNvPr>
          <p:cNvSpPr/>
          <p:nvPr/>
        </p:nvSpPr>
        <p:spPr>
          <a:xfrm>
            <a:off x="0" y="0"/>
            <a:ext cx="2074193" cy="6858000"/>
          </a:xfrm>
          <a:prstGeom prst="roundRect">
            <a:avLst>
              <a:gd name="adj" fmla="val 16205"/>
            </a:avLst>
          </a:prstGeom>
          <a:solidFill>
            <a:srgbClr val="3A9B97">
              <a:alpha val="20000"/>
            </a:srgbClr>
          </a:solidFill>
          <a:ln w="571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2267" b="1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Introduction</a:t>
            </a: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Execution</a:t>
            </a: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Strategy</a:t>
            </a: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D2E022-5BBC-E7B8-E36B-ACC3CB560CB4}"/>
              </a:ext>
            </a:extLst>
          </p:cNvPr>
          <p:cNvSpPr/>
          <p:nvPr/>
        </p:nvSpPr>
        <p:spPr>
          <a:xfrm>
            <a:off x="18184" y="16371"/>
            <a:ext cx="2056009" cy="220472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sym typeface="Arial"/>
            </a:endParaRPr>
          </a:p>
        </p:txBody>
      </p:sp>
      <p:sp>
        <p:nvSpPr>
          <p:cNvPr id="23" name="Google Shape;384;p42">
            <a:extLst>
              <a:ext uri="{FF2B5EF4-FFF2-40B4-BE49-F238E27FC236}">
                <a16:creationId xmlns:a16="http://schemas.microsoft.com/office/drawing/2014/main" id="{E074F8DB-6357-FE63-5F5E-2D703D7BD772}"/>
              </a:ext>
            </a:extLst>
          </p:cNvPr>
          <p:cNvSpPr txBox="1">
            <a:spLocks/>
          </p:cNvSpPr>
          <p:nvPr/>
        </p:nvSpPr>
        <p:spPr>
          <a:xfrm>
            <a:off x="7268309" y="2603184"/>
            <a:ext cx="4726744" cy="3112049"/>
          </a:xfrm>
          <a:prstGeom prst="roundRect">
            <a:avLst/>
          </a:prstGeom>
          <a:solidFill>
            <a:srgbClr val="FFFFFF">
              <a:alpha val="22000"/>
            </a:srgb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0" indent="0" defTabSz="1219170">
              <a:buClr>
                <a:srgbClr val="FFFFFF"/>
              </a:buClr>
              <a:buNone/>
            </a:pPr>
            <a:r>
              <a:rPr lang="en-US" sz="1400" b="1" u="sng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CORS Issues in React-Backend: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Challenge: React frontend couldn’t communicate with Flask API due to CORS restrictions.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Solution: Used Flask-CORS to enable frontend-backend communication.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Asked a developer friend, Flask-CORS documentation.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u="sng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LLM Hallucination: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Challenge: LLM was generating unrelated responses.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Solution: Used structured system prompts to enforce factual, JSON-formatted outputs.</a:t>
            </a:r>
          </a:p>
          <a:p>
            <a:pPr marL="0" indent="0" defTabSz="1219170">
              <a:buClr>
                <a:srgbClr val="FFFFFF"/>
              </a:buClr>
              <a:buNone/>
            </a:pPr>
            <a:r>
              <a:rPr lang="en-US" sz="14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https://platform.openai.com/docs/guides/structured-outputs</a:t>
            </a:r>
          </a:p>
          <a:p>
            <a:pPr marL="0" indent="0" defTabSz="1219170">
              <a:buClr>
                <a:srgbClr val="FFFFFF"/>
              </a:buClr>
              <a:buNone/>
            </a:pPr>
            <a:endParaRPr lang="en-US" kern="0" dirty="0">
              <a:solidFill>
                <a:srgbClr val="000000"/>
              </a:solidFill>
              <a:latin typeface="Onest" panose="020B060402020202020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23C774-7A65-877A-457E-C72F7CDAE8CD}"/>
              </a:ext>
            </a:extLst>
          </p:cNvPr>
          <p:cNvSpPr/>
          <p:nvPr/>
        </p:nvSpPr>
        <p:spPr>
          <a:xfrm>
            <a:off x="8039719" y="2400930"/>
            <a:ext cx="3160541" cy="342144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Challenges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1174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B936-315E-7F45-D252-22F630B2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84987-156F-BD91-579C-1273A2D88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0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32745E-45A4-7337-9B90-D129AAF77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070"/>
          </a:xfrm>
          <a:prstGeom prst="rect">
            <a:avLst/>
          </a:prstGeom>
        </p:spPr>
      </p:pic>
      <p:sp>
        <p:nvSpPr>
          <p:cNvPr id="4" name="Google Shape;384;p42">
            <a:extLst>
              <a:ext uri="{FF2B5EF4-FFF2-40B4-BE49-F238E27FC236}">
                <a16:creationId xmlns:a16="http://schemas.microsoft.com/office/drawing/2014/main" id="{3AD68713-E969-2FCE-DDD7-FF7E1FCF1980}"/>
              </a:ext>
            </a:extLst>
          </p:cNvPr>
          <p:cNvSpPr txBox="1">
            <a:spLocks/>
          </p:cNvSpPr>
          <p:nvPr/>
        </p:nvSpPr>
        <p:spPr>
          <a:xfrm>
            <a:off x="2485294" y="242973"/>
            <a:ext cx="9400796" cy="6359465"/>
          </a:xfrm>
          <a:prstGeom prst="roundRect">
            <a:avLst>
              <a:gd name="adj" fmla="val 3542"/>
            </a:avLst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0" indent="0" algn="just" defTabSz="1219170">
              <a:buClr>
                <a:srgbClr val="FFFFFF"/>
              </a:buClr>
              <a:buNone/>
            </a:pPr>
            <a:endParaRPr lang="en-US" sz="2133" kern="0" dirty="0">
              <a:solidFill>
                <a:srgbClr val="FFFFFF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BFA55E-50FD-1DD8-D303-944F35A26949}"/>
              </a:ext>
            </a:extLst>
          </p:cNvPr>
          <p:cNvSpPr/>
          <p:nvPr/>
        </p:nvSpPr>
        <p:spPr>
          <a:xfrm>
            <a:off x="6061447" y="128233"/>
            <a:ext cx="2248488" cy="415719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Control Flow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C2001F59-6DC2-4947-91D6-29B9468109B9}"/>
              </a:ext>
            </a:extLst>
          </p:cNvPr>
          <p:cNvSpPr/>
          <p:nvPr/>
        </p:nvSpPr>
        <p:spPr>
          <a:xfrm>
            <a:off x="2908568" y="1687832"/>
            <a:ext cx="1223503" cy="70039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Action Selection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FA58C-055F-B556-DE75-9C6B7FACDAB8}"/>
              </a:ext>
            </a:extLst>
          </p:cNvPr>
          <p:cNvSpPr/>
          <p:nvPr/>
        </p:nvSpPr>
        <p:spPr>
          <a:xfrm>
            <a:off x="2908569" y="543952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Upload Transcript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AD109-7E93-EEC9-DF82-0F907B943B53}"/>
              </a:ext>
            </a:extLst>
          </p:cNvPr>
          <p:cNvSpPr/>
          <p:nvPr/>
        </p:nvSpPr>
        <p:spPr>
          <a:xfrm>
            <a:off x="2908568" y="1115892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File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AA435-91A7-5A4C-EC57-37F99F8190BC}"/>
              </a:ext>
            </a:extLst>
          </p:cNvPr>
          <p:cNvSpPr txBox="1"/>
          <p:nvPr/>
        </p:nvSpPr>
        <p:spPr>
          <a:xfrm>
            <a:off x="3459205" y="310913"/>
            <a:ext cx="6944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Frontend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5CA5F9-9231-C4AE-F37F-CC718C49BA2B}"/>
              </a:ext>
            </a:extLst>
          </p:cNvPr>
          <p:cNvSpPr/>
          <p:nvPr/>
        </p:nvSpPr>
        <p:spPr>
          <a:xfrm>
            <a:off x="4390550" y="1253838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Structured Topics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1FEEFD-2E05-209C-CA20-A87FD74BFEE3}"/>
              </a:ext>
            </a:extLst>
          </p:cNvPr>
          <p:cNvSpPr/>
          <p:nvPr/>
        </p:nvSpPr>
        <p:spPr>
          <a:xfrm>
            <a:off x="4390549" y="1891052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Co-occurrence Graph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C7D5AE-8361-5601-1A08-A926220E7F09}"/>
              </a:ext>
            </a:extLst>
          </p:cNvPr>
          <p:cNvSpPr/>
          <p:nvPr/>
        </p:nvSpPr>
        <p:spPr>
          <a:xfrm>
            <a:off x="2908568" y="2631196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Analysis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87E417-3AE2-617B-5001-4DD593EA1889}"/>
              </a:ext>
            </a:extLst>
          </p:cNvPr>
          <p:cNvSpPr/>
          <p:nvPr/>
        </p:nvSpPr>
        <p:spPr>
          <a:xfrm>
            <a:off x="4390548" y="2631196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Data Ingestion &amp;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3FC9E7-20FC-A12F-08EC-65781C65A389}"/>
              </a:ext>
            </a:extLst>
          </p:cNvPr>
          <p:cNvSpPr/>
          <p:nvPr/>
        </p:nvSpPr>
        <p:spPr>
          <a:xfrm>
            <a:off x="4390548" y="3281859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Preprocessing Engine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BAC1B1-F36A-A3F2-7F9D-C5C439610983}"/>
              </a:ext>
            </a:extLst>
          </p:cNvPr>
          <p:cNvSpPr/>
          <p:nvPr/>
        </p:nvSpPr>
        <p:spPr>
          <a:xfrm>
            <a:off x="2908568" y="3281859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Embedding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9C2B6-C7E4-06F3-90C7-F4E2532F580B}"/>
              </a:ext>
            </a:extLst>
          </p:cNvPr>
          <p:cNvSpPr/>
          <p:nvPr/>
        </p:nvSpPr>
        <p:spPr>
          <a:xfrm>
            <a:off x="2936772" y="396007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FAISS Vector Index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DF9BF3-422D-EC59-1AB5-06CD29F3E10C}"/>
              </a:ext>
            </a:extLst>
          </p:cNvPr>
          <p:cNvSpPr/>
          <p:nvPr/>
        </p:nvSpPr>
        <p:spPr>
          <a:xfrm>
            <a:off x="4390548" y="396007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LLM Engine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2A7DD9-73FD-02BA-DA07-3CD387223757}"/>
              </a:ext>
            </a:extLst>
          </p:cNvPr>
          <p:cNvSpPr/>
          <p:nvPr/>
        </p:nvSpPr>
        <p:spPr>
          <a:xfrm>
            <a:off x="3673811" y="4586195"/>
            <a:ext cx="1223503" cy="391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RAG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F2FEB8-CBE0-B219-0880-24B4C6AEE378}"/>
              </a:ext>
            </a:extLst>
          </p:cNvPr>
          <p:cNvSpPr/>
          <p:nvPr/>
        </p:nvSpPr>
        <p:spPr>
          <a:xfrm>
            <a:off x="2561356" y="518066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Topic Clusters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98AE5F-4C73-7F4C-30EA-1AD38F979C55}"/>
              </a:ext>
            </a:extLst>
          </p:cNvPr>
          <p:cNvSpPr/>
          <p:nvPr/>
        </p:nvSpPr>
        <p:spPr>
          <a:xfrm>
            <a:off x="3867529" y="5184254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Named Entities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3C2FF4-0D7C-9955-F8A7-F72E8AF47772}"/>
              </a:ext>
            </a:extLst>
          </p:cNvPr>
          <p:cNvSpPr/>
          <p:nvPr/>
        </p:nvSpPr>
        <p:spPr>
          <a:xfrm>
            <a:off x="5173702" y="518066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Sentiment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959CE7-38FA-9766-2612-C6476B9FE4A0}"/>
              </a:ext>
            </a:extLst>
          </p:cNvPr>
          <p:cNvSpPr/>
          <p:nvPr/>
        </p:nvSpPr>
        <p:spPr>
          <a:xfrm>
            <a:off x="6473267" y="518066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Thematic Analysis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3C657C-4EA1-FAEE-CAFD-C70569C9EE54}"/>
              </a:ext>
            </a:extLst>
          </p:cNvPr>
          <p:cNvSpPr/>
          <p:nvPr/>
        </p:nvSpPr>
        <p:spPr>
          <a:xfrm>
            <a:off x="7779440" y="5184254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Strategic Insights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04007D-9982-AB8C-30AF-01713934CF8F}"/>
              </a:ext>
            </a:extLst>
          </p:cNvPr>
          <p:cNvSpPr/>
          <p:nvPr/>
        </p:nvSpPr>
        <p:spPr>
          <a:xfrm>
            <a:off x="9085613" y="5180663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Summary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06CBCE-0422-35F0-BF23-611B36D11831}"/>
              </a:ext>
            </a:extLst>
          </p:cNvPr>
          <p:cNvSpPr/>
          <p:nvPr/>
        </p:nvSpPr>
        <p:spPr>
          <a:xfrm>
            <a:off x="5838042" y="3281858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Tokenization &amp; Cleaning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486FCF-1ECD-8F02-704C-5A810C73BFC5}"/>
              </a:ext>
            </a:extLst>
          </p:cNvPr>
          <p:cNvSpPr/>
          <p:nvPr/>
        </p:nvSpPr>
        <p:spPr>
          <a:xfrm>
            <a:off x="5786926" y="3950338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Frequency Analysis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9F5598-8DCA-B650-BCD7-11E25323D41A}"/>
              </a:ext>
            </a:extLst>
          </p:cNvPr>
          <p:cNvSpPr/>
          <p:nvPr/>
        </p:nvSpPr>
        <p:spPr>
          <a:xfrm>
            <a:off x="5785452" y="4556592"/>
            <a:ext cx="1223503" cy="391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Distribution Table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1ABA5C-3D06-7324-3F13-FDCECC66E9AD}"/>
              </a:ext>
            </a:extLst>
          </p:cNvPr>
          <p:cNvSpPr/>
          <p:nvPr/>
        </p:nvSpPr>
        <p:spPr>
          <a:xfrm>
            <a:off x="7185690" y="3950338"/>
            <a:ext cx="1223503" cy="430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Co-occurrence Matrix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E30B19-D6A0-9223-3994-2B30D37B3501}"/>
              </a:ext>
            </a:extLst>
          </p:cNvPr>
          <p:cNvSpPr/>
          <p:nvPr/>
        </p:nvSpPr>
        <p:spPr>
          <a:xfrm>
            <a:off x="7185691" y="4555717"/>
            <a:ext cx="1223503" cy="391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Topic Visualization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9BEFF8-587D-9E0A-0A46-B1292E4A9279}"/>
              </a:ext>
            </a:extLst>
          </p:cNvPr>
          <p:cNvSpPr txBox="1"/>
          <p:nvPr/>
        </p:nvSpPr>
        <p:spPr>
          <a:xfrm>
            <a:off x="3480281" y="2393864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Backend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2858B2-FBEE-11F1-AC49-1CA38D1C2782}"/>
              </a:ext>
            </a:extLst>
          </p:cNvPr>
          <p:cNvSpPr txBox="1"/>
          <p:nvPr/>
        </p:nvSpPr>
        <p:spPr>
          <a:xfrm>
            <a:off x="3510829" y="3066865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ML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0A410B-98F3-030A-5A40-1D97D403D31F}"/>
              </a:ext>
            </a:extLst>
          </p:cNvPr>
          <p:cNvSpPr txBox="1"/>
          <p:nvPr/>
        </p:nvSpPr>
        <p:spPr>
          <a:xfrm>
            <a:off x="4358178" y="4977763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992637-0918-0EC9-71B1-E8DCC5652354}"/>
              </a:ext>
            </a:extLst>
          </p:cNvPr>
          <p:cNvSpPr txBox="1"/>
          <p:nvPr/>
        </p:nvSpPr>
        <p:spPr>
          <a:xfrm>
            <a:off x="6188697" y="302222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Text Processing Pipeline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7D6124-EDCF-3B18-2CF1-6C2E5C77C8CF}"/>
              </a:ext>
            </a:extLst>
          </p:cNvPr>
          <p:cNvCxnSpPr/>
          <p:nvPr/>
        </p:nvCxnSpPr>
        <p:spPr>
          <a:xfrm>
            <a:off x="3528060" y="974758"/>
            <a:ext cx="0" cy="141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C969D87-47CD-DF4A-F2DA-1F21E958DA9B}"/>
              </a:ext>
            </a:extLst>
          </p:cNvPr>
          <p:cNvCxnSpPr/>
          <p:nvPr/>
        </p:nvCxnSpPr>
        <p:spPr>
          <a:xfrm>
            <a:off x="3524250" y="1546698"/>
            <a:ext cx="0" cy="141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ED92EF9-3B87-8A32-3E9C-E5CB48B65691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4132071" y="1469241"/>
            <a:ext cx="258479" cy="5687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4320D392-3C1B-A42B-EC8D-7FE2C7468E1C}"/>
              </a:ext>
            </a:extLst>
          </p:cNvPr>
          <p:cNvCxnSpPr>
            <a:stCxn id="9" idx="3"/>
            <a:endCxn id="16" idx="1"/>
          </p:cNvCxnSpPr>
          <p:nvPr/>
        </p:nvCxnSpPr>
        <p:spPr>
          <a:xfrm>
            <a:off x="4132071" y="2038028"/>
            <a:ext cx="258478" cy="684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97A237F-216F-A117-EB6A-8F8BBDEF2890}"/>
              </a:ext>
            </a:extLst>
          </p:cNvPr>
          <p:cNvCxnSpPr>
            <a:endCxn id="17" idx="0"/>
          </p:cNvCxnSpPr>
          <p:nvPr/>
        </p:nvCxnSpPr>
        <p:spPr>
          <a:xfrm>
            <a:off x="3520318" y="2388223"/>
            <a:ext cx="2" cy="24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C1A8333-4797-620E-2DF3-20054DC7F7E5}"/>
              </a:ext>
            </a:extLst>
          </p:cNvPr>
          <p:cNvCxnSpPr/>
          <p:nvPr/>
        </p:nvCxnSpPr>
        <p:spPr>
          <a:xfrm>
            <a:off x="3510829" y="3724370"/>
            <a:ext cx="0" cy="241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D84C454-7158-CADB-7FFE-CE87458E393A}"/>
              </a:ext>
            </a:extLst>
          </p:cNvPr>
          <p:cNvCxnSpPr/>
          <p:nvPr/>
        </p:nvCxnSpPr>
        <p:spPr>
          <a:xfrm>
            <a:off x="4132071" y="3719016"/>
            <a:ext cx="258477" cy="22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A106E0C-A4FD-194A-8255-B356BA797A56}"/>
              </a:ext>
            </a:extLst>
          </p:cNvPr>
          <p:cNvCxnSpPr>
            <a:endCxn id="18" idx="1"/>
          </p:cNvCxnSpPr>
          <p:nvPr/>
        </p:nvCxnSpPr>
        <p:spPr>
          <a:xfrm>
            <a:off x="4153626" y="2846599"/>
            <a:ext cx="236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816326-4355-2452-3A00-F4CBBA0F61DE}"/>
              </a:ext>
            </a:extLst>
          </p:cNvPr>
          <p:cNvCxnSpPr>
            <a:endCxn id="19" idx="0"/>
          </p:cNvCxnSpPr>
          <p:nvPr/>
        </p:nvCxnSpPr>
        <p:spPr>
          <a:xfrm>
            <a:off x="5002299" y="3062002"/>
            <a:ext cx="1" cy="21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A861BA7-322B-59A3-8546-3058234EA00B}"/>
              </a:ext>
            </a:extLst>
          </p:cNvPr>
          <p:cNvCxnSpPr>
            <a:stCxn id="19" idx="3"/>
            <a:endCxn id="30" idx="1"/>
          </p:cNvCxnSpPr>
          <p:nvPr/>
        </p:nvCxnSpPr>
        <p:spPr>
          <a:xfrm flipV="1">
            <a:off x="5614051" y="3497261"/>
            <a:ext cx="2239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028921BB-E988-9B1F-1054-C130CAA69A17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16200000" flipH="1">
            <a:off x="3819385" y="4120017"/>
            <a:ext cx="195316" cy="7370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71BC624C-FB03-1094-3AB5-547B097C308E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4546274" y="4130169"/>
            <a:ext cx="195316" cy="716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A91C8421-1062-C061-42F8-3B804831882E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5440067" y="2858933"/>
            <a:ext cx="155996" cy="1863459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84731C9D-0ABC-1B5C-06E9-13AFBB9F1CC1}"/>
              </a:ext>
            </a:extLst>
          </p:cNvPr>
          <p:cNvCxnSpPr>
            <a:cxnSpLocks/>
          </p:cNvCxnSpPr>
          <p:nvPr/>
        </p:nvCxnSpPr>
        <p:spPr>
          <a:xfrm rot="10800000">
            <a:off x="4139899" y="3679591"/>
            <a:ext cx="474640" cy="1871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0F58394-1024-6A4D-260F-0ED6CAA5898C}"/>
              </a:ext>
            </a:extLst>
          </p:cNvPr>
          <p:cNvCxnSpPr>
            <a:endCxn id="24" idx="0"/>
          </p:cNvCxnSpPr>
          <p:nvPr/>
        </p:nvCxnSpPr>
        <p:spPr>
          <a:xfrm rot="10800000" flipV="1">
            <a:off x="3173108" y="5017001"/>
            <a:ext cx="1112454" cy="1636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DBB5748-9D2C-DDC3-63FA-5F76AF809EAF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4285562" y="4977763"/>
            <a:ext cx="1" cy="20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D167FD8-FB21-2484-0D35-A3BF73CD8B6E}"/>
              </a:ext>
            </a:extLst>
          </p:cNvPr>
          <p:cNvCxnSpPr>
            <a:cxnSpLocks/>
          </p:cNvCxnSpPr>
          <p:nvPr/>
        </p:nvCxnSpPr>
        <p:spPr>
          <a:xfrm>
            <a:off x="4858881" y="4796990"/>
            <a:ext cx="888140" cy="379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3315F9E-5998-7A24-65A2-60E7B6A55E12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6449794" y="3712664"/>
            <a:ext cx="1" cy="23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E5FBDFE-D333-31C4-33ED-4967DBADD216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7010429" y="4165741"/>
            <a:ext cx="175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BD6814B-1307-7018-0167-4345B1D79A65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>
            <a:off x="7797442" y="4381144"/>
            <a:ext cx="1" cy="174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6C48CE1-FCA4-C997-122A-248FCACEEB7A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flipH="1">
            <a:off x="6397204" y="4381144"/>
            <a:ext cx="1474" cy="175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A137C0CF-A9F4-AF8A-256E-6A96E2056D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29937" y="1551074"/>
            <a:ext cx="1184188" cy="1015959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D0AC0B60-7F4A-6492-9747-877EEA6139F9}"/>
              </a:ext>
            </a:extLst>
          </p:cNvPr>
          <p:cNvCxnSpPr/>
          <p:nvPr/>
        </p:nvCxnSpPr>
        <p:spPr>
          <a:xfrm rot="10800000" flipV="1">
            <a:off x="5642255" y="2651149"/>
            <a:ext cx="987756" cy="6491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8713A772-A727-D66F-F74F-3629207BF247}"/>
              </a:ext>
            </a:extLst>
          </p:cNvPr>
          <p:cNvCxnSpPr>
            <a:cxnSpLocks/>
          </p:cNvCxnSpPr>
          <p:nvPr/>
        </p:nvCxnSpPr>
        <p:spPr>
          <a:xfrm>
            <a:off x="5592126" y="2144978"/>
            <a:ext cx="447395" cy="606265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19B9D812-AC41-174F-EA3D-BA3B0C6BCC47}"/>
              </a:ext>
            </a:extLst>
          </p:cNvPr>
          <p:cNvCxnSpPr/>
          <p:nvPr/>
        </p:nvCxnSpPr>
        <p:spPr>
          <a:xfrm rot="5400000">
            <a:off x="5525756" y="2777944"/>
            <a:ext cx="547539" cy="4755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D836C953-92CF-A0AF-590C-AF5AF7C08325}"/>
              </a:ext>
            </a:extLst>
          </p:cNvPr>
          <p:cNvCxnSpPr>
            <a:endCxn id="27" idx="0"/>
          </p:cNvCxnSpPr>
          <p:nvPr/>
        </p:nvCxnSpPr>
        <p:spPr>
          <a:xfrm>
            <a:off x="5747021" y="5017001"/>
            <a:ext cx="1337998" cy="1636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4AB6C6C3-B214-079C-8365-E2E2B20FF4FD}"/>
              </a:ext>
            </a:extLst>
          </p:cNvPr>
          <p:cNvCxnSpPr>
            <a:endCxn id="28" idx="0"/>
          </p:cNvCxnSpPr>
          <p:nvPr/>
        </p:nvCxnSpPr>
        <p:spPr>
          <a:xfrm>
            <a:off x="7085019" y="5017001"/>
            <a:ext cx="1306173" cy="1672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64A24A2E-4D67-362E-7F64-21B72F0C8B71}"/>
              </a:ext>
            </a:extLst>
          </p:cNvPr>
          <p:cNvCxnSpPr>
            <a:endCxn id="29" idx="0"/>
          </p:cNvCxnSpPr>
          <p:nvPr/>
        </p:nvCxnSpPr>
        <p:spPr>
          <a:xfrm>
            <a:off x="8391192" y="5017001"/>
            <a:ext cx="1306173" cy="1636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Picture 136">
            <a:extLst>
              <a:ext uri="{FF2B5EF4-FFF2-40B4-BE49-F238E27FC236}">
                <a16:creationId xmlns:a16="http://schemas.microsoft.com/office/drawing/2014/main" id="{68E550BA-7DF9-A012-4BB2-281C0AEFBB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770" y="639093"/>
            <a:ext cx="4050572" cy="2627979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603210CA-FF44-B26F-D4E8-BBA230352F8B}"/>
              </a:ext>
            </a:extLst>
          </p:cNvPr>
          <p:cNvSpPr txBox="1"/>
          <p:nvPr/>
        </p:nvSpPr>
        <p:spPr>
          <a:xfrm>
            <a:off x="7641999" y="3261769"/>
            <a:ext cx="41601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Comparison of Manual vs. Automated Processing (Time &amp; Cost Savings in %)</a:t>
            </a:r>
            <a:endParaRPr lang="en-IN" sz="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06D252-D61A-41FB-8EC2-5B9561C68733}"/>
              </a:ext>
            </a:extLst>
          </p:cNvPr>
          <p:cNvSpPr/>
          <p:nvPr/>
        </p:nvSpPr>
        <p:spPr>
          <a:xfrm>
            <a:off x="0" y="0"/>
            <a:ext cx="2074193" cy="6858000"/>
          </a:xfrm>
          <a:prstGeom prst="roundRect">
            <a:avLst>
              <a:gd name="adj" fmla="val 16205"/>
            </a:avLst>
          </a:prstGeom>
          <a:solidFill>
            <a:srgbClr val="3A9B97">
              <a:alpha val="20000"/>
            </a:srgbClr>
          </a:solidFill>
          <a:ln w="571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Introduction</a:t>
            </a: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2400" b="1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Execution</a:t>
            </a: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Strategy</a:t>
            </a: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79924B-E14E-44E7-E5AC-4AB3A8F565B7}"/>
              </a:ext>
            </a:extLst>
          </p:cNvPr>
          <p:cNvSpPr/>
          <p:nvPr/>
        </p:nvSpPr>
        <p:spPr>
          <a:xfrm>
            <a:off x="-466" y="2328675"/>
            <a:ext cx="2056009" cy="220472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751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FAE3-37A3-2E69-FCE9-044A489F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817D7F-53C1-B96B-29E3-BF0927864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070"/>
          </a:xfrm>
          <a:prstGeom prst="rect">
            <a:avLst/>
          </a:prstGeom>
        </p:spPr>
      </p:pic>
      <p:sp>
        <p:nvSpPr>
          <p:cNvPr id="2" name="Google Shape;384;p42">
            <a:extLst>
              <a:ext uri="{FF2B5EF4-FFF2-40B4-BE49-F238E27FC236}">
                <a16:creationId xmlns:a16="http://schemas.microsoft.com/office/drawing/2014/main" id="{81661EA3-A838-2989-B842-14BC7D02FE13}"/>
              </a:ext>
            </a:extLst>
          </p:cNvPr>
          <p:cNvSpPr txBox="1">
            <a:spLocks/>
          </p:cNvSpPr>
          <p:nvPr/>
        </p:nvSpPr>
        <p:spPr>
          <a:xfrm>
            <a:off x="2485291" y="4941651"/>
            <a:ext cx="9470003" cy="1756750"/>
          </a:xfrm>
          <a:prstGeom prst="roundRect">
            <a:avLst/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Removes stop words, punctuation, and normalizes text.</a:t>
            </a:r>
          </a:p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Thematic Analysis: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Identifies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topics, entities, and relationships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Analysis: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Extracts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positive, negative, or neutral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sentiments.</a:t>
            </a:r>
          </a:p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 Visualization: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Displays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interconnectedness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extracted topics.</a:t>
            </a:r>
          </a:p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US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Automated Summary Generation: </a:t>
            </a:r>
            <a:r>
              <a:rPr lang="en-US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Generates structured reports for easy interpretation.</a:t>
            </a:r>
            <a:endParaRPr lang="en-IN" sz="1600" kern="0" dirty="0">
              <a:solidFill>
                <a:srgbClr val="FFFFFF"/>
              </a:solidFill>
              <a:latin typeface="Onest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79988" indent="-239994" defTabSz="1219170">
              <a:spcAft>
                <a:spcPts val="533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endParaRPr lang="en-IN" sz="1600" kern="0" dirty="0">
              <a:solidFill>
                <a:srgbClr val="FFFFFF"/>
              </a:solidFill>
              <a:latin typeface="Onest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384;p42">
            <a:extLst>
              <a:ext uri="{FF2B5EF4-FFF2-40B4-BE49-F238E27FC236}">
                <a16:creationId xmlns:a16="http://schemas.microsoft.com/office/drawing/2014/main" id="{46752326-10A0-8DB4-0838-4380FC409F6E}"/>
              </a:ext>
            </a:extLst>
          </p:cNvPr>
          <p:cNvSpPr txBox="1">
            <a:spLocks/>
          </p:cNvSpPr>
          <p:nvPr/>
        </p:nvSpPr>
        <p:spPr>
          <a:xfrm>
            <a:off x="2485294" y="242973"/>
            <a:ext cx="5919404" cy="1255087"/>
          </a:xfrm>
          <a:prstGeom prst="roundRect">
            <a:avLst/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 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Flask, FAISS, Together AI API</a:t>
            </a: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NLP Libraries 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NLTK, Sentence-Transformers, Meta Llama-3</a:t>
            </a: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FAISS (Vector Search)</a:t>
            </a: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 :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React (Next.js)</a:t>
            </a:r>
            <a:endParaRPr lang="en-IN" sz="1600" kern="100" dirty="0">
              <a:solidFill>
                <a:srgbClr val="FFFFFF"/>
              </a:solidFill>
              <a:latin typeface="Onest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80990" indent="-380990" algn="just" defTabSz="1219170">
              <a:buClr>
                <a:srgbClr val="FFFFFF"/>
              </a:buClr>
            </a:pPr>
            <a:endParaRPr lang="en-US" sz="1600" kern="0" dirty="0">
              <a:solidFill>
                <a:srgbClr val="FFFFFF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51A9D1-A2FF-76F6-B242-8E06680928D1}"/>
              </a:ext>
            </a:extLst>
          </p:cNvPr>
          <p:cNvSpPr/>
          <p:nvPr/>
        </p:nvSpPr>
        <p:spPr>
          <a:xfrm>
            <a:off x="3917850" y="51865"/>
            <a:ext cx="3160541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Technology Used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6" name="Google Shape;384;p42">
            <a:extLst>
              <a:ext uri="{FF2B5EF4-FFF2-40B4-BE49-F238E27FC236}">
                <a16:creationId xmlns:a16="http://schemas.microsoft.com/office/drawing/2014/main" id="{00F13366-A1F2-A6C9-40A9-7EA30EEEC29F}"/>
              </a:ext>
            </a:extLst>
          </p:cNvPr>
          <p:cNvSpPr txBox="1">
            <a:spLocks/>
          </p:cNvSpPr>
          <p:nvPr/>
        </p:nvSpPr>
        <p:spPr>
          <a:xfrm>
            <a:off x="2398095" y="1916349"/>
            <a:ext cx="6006603" cy="2738640"/>
          </a:xfrm>
          <a:prstGeom prst="roundRect">
            <a:avLst>
              <a:gd name="adj" fmla="val 14397"/>
            </a:avLst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575986" indent="-239994" defTabSz="1219170">
              <a:lnSpc>
                <a:spcPct val="107000"/>
              </a:lnSpc>
              <a:spcAft>
                <a:spcPts val="267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Flask-based NLP system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automates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 extraction, sentiment analysis, and thematic visualization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interview transcripts.</a:t>
            </a:r>
          </a:p>
          <a:p>
            <a:pPr marL="575986" indent="-239994" defTabSz="1219170">
              <a:lnSpc>
                <a:spcPct val="107000"/>
              </a:lnSpc>
              <a:spcAft>
                <a:spcPts val="267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NLP models (LLM, Sentence Transformers, FAISS indexing)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process data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programming knowledge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5986" indent="-239994" defTabSz="1219170">
              <a:lnSpc>
                <a:spcPct val="107000"/>
              </a:lnSpc>
              <a:spcAft>
                <a:spcPts val="267"/>
              </a:spcAft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IN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 summaries, keyword frequency analysis, and visual representations</a:t>
            </a:r>
            <a:r>
              <a:rPr lang="en-IN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topic interconnections.</a:t>
            </a:r>
            <a:endParaRPr lang="en-IN" sz="1600" kern="100" dirty="0">
              <a:solidFill>
                <a:srgbClr val="FFFFFF"/>
              </a:solidFill>
              <a:latin typeface="Onest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 defTabSz="1219170">
              <a:buClr>
                <a:srgbClr val="FFFFFF"/>
              </a:buClr>
              <a:buNone/>
            </a:pPr>
            <a:endParaRPr lang="en-US" sz="1600" kern="0" dirty="0">
              <a:solidFill>
                <a:srgbClr val="FFFFFF"/>
              </a:solidFill>
              <a:latin typeface="Onest" panose="020B060402020202020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3FDF27-45DD-8278-A4D9-2CCFB926C16D}"/>
              </a:ext>
            </a:extLst>
          </p:cNvPr>
          <p:cNvSpPr/>
          <p:nvPr/>
        </p:nvSpPr>
        <p:spPr>
          <a:xfrm>
            <a:off x="4053838" y="1706394"/>
            <a:ext cx="3024553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Proposed Solution 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DEBCC4-15C3-1672-BB81-B5319415096D}"/>
              </a:ext>
            </a:extLst>
          </p:cNvPr>
          <p:cNvSpPr/>
          <p:nvPr/>
        </p:nvSpPr>
        <p:spPr>
          <a:xfrm>
            <a:off x="5524201" y="4750543"/>
            <a:ext cx="3024553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Features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295390-2CD5-5C08-7DE4-BEA6863DB6F1}"/>
              </a:ext>
            </a:extLst>
          </p:cNvPr>
          <p:cNvSpPr/>
          <p:nvPr/>
        </p:nvSpPr>
        <p:spPr>
          <a:xfrm>
            <a:off x="0" y="0"/>
            <a:ext cx="2074193" cy="6858000"/>
          </a:xfrm>
          <a:prstGeom prst="roundRect">
            <a:avLst>
              <a:gd name="adj" fmla="val 16205"/>
            </a:avLst>
          </a:prstGeom>
          <a:solidFill>
            <a:srgbClr val="3A9B97">
              <a:alpha val="20000"/>
            </a:srgbClr>
          </a:solidFill>
          <a:ln w="571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Introduction</a:t>
            </a:r>
            <a:endParaRPr lang="en-US" sz="1670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Execution</a:t>
            </a: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US" sz="2400" b="1" kern="0" dirty="0">
                <a:solidFill>
                  <a:schemeClr val="tx1"/>
                </a:solidFill>
                <a:latin typeface="Onest" panose="020B0604020202020204" charset="0"/>
                <a:sym typeface="Arial"/>
              </a:rPr>
              <a:t>Strategy</a:t>
            </a: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chemeClr val="tx1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3F268A-2258-9D6D-7B2E-510D9040AB89}"/>
              </a:ext>
            </a:extLst>
          </p:cNvPr>
          <p:cNvSpPr/>
          <p:nvPr/>
        </p:nvSpPr>
        <p:spPr>
          <a:xfrm>
            <a:off x="18184" y="4631887"/>
            <a:ext cx="2056009" cy="220472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sym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AA8B53-E296-CC88-8CED-3103D31338A0}"/>
              </a:ext>
            </a:extLst>
          </p:cNvPr>
          <p:cNvSpPr/>
          <p:nvPr/>
        </p:nvSpPr>
        <p:spPr>
          <a:xfrm>
            <a:off x="8815799" y="51865"/>
            <a:ext cx="3024553" cy="382216"/>
          </a:xfrm>
          <a:prstGeom prst="roundRect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Onest" panose="020B0604020202020204" charset="0"/>
                <a:sym typeface="Arial"/>
              </a:rPr>
              <a:t>Future Scope</a:t>
            </a:r>
            <a:endParaRPr lang="en-IN" sz="1867" b="1" kern="0" dirty="0">
              <a:solidFill>
                <a:srgbClr val="000000"/>
              </a:solidFill>
              <a:latin typeface="Onest" panose="020B0604020202020204" charset="0"/>
              <a:sym typeface="Arial"/>
            </a:endParaRPr>
          </a:p>
        </p:txBody>
      </p:sp>
      <p:sp>
        <p:nvSpPr>
          <p:cNvPr id="10" name="Google Shape;384;p42">
            <a:extLst>
              <a:ext uri="{FF2B5EF4-FFF2-40B4-BE49-F238E27FC236}">
                <a16:creationId xmlns:a16="http://schemas.microsoft.com/office/drawing/2014/main" id="{5731C355-BC2E-134E-9978-D7B02A3E5B5A}"/>
              </a:ext>
            </a:extLst>
          </p:cNvPr>
          <p:cNvSpPr txBox="1">
            <a:spLocks/>
          </p:cNvSpPr>
          <p:nvPr/>
        </p:nvSpPr>
        <p:spPr>
          <a:xfrm>
            <a:off x="8496228" y="254459"/>
            <a:ext cx="3604241" cy="4448307"/>
          </a:xfrm>
          <a:prstGeom prst="roundRect">
            <a:avLst/>
          </a:prstGeom>
          <a:solidFill>
            <a:schemeClr val="bg2">
              <a:lumMod val="20000"/>
              <a:lumOff val="80000"/>
              <a:alpha val="24000"/>
            </a:schemeClr>
          </a:solidFill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●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○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■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US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Multi-language Support: </a:t>
            </a:r>
            <a:r>
              <a:rPr lang="en-US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Extending beyond English to cater to global research.</a:t>
            </a: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US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Speaker Differentiation: </a:t>
            </a:r>
            <a:r>
              <a:rPr lang="en-US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Automatically detecting who’s speaking in multi-person interviews.</a:t>
            </a: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US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Integration with Notion or Google Docs: </a:t>
            </a:r>
            <a:r>
              <a:rPr lang="en-US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Seamlessly export your structured summaries to popular collaboration platforms.</a:t>
            </a:r>
            <a:endParaRPr lang="en-US" sz="1600" b="1" kern="0" dirty="0">
              <a:solidFill>
                <a:srgbClr val="FFFFFF"/>
              </a:solidFill>
              <a:latin typeface="Onest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0990" indent="-380990" defTabSz="1219170">
              <a:buClr>
                <a:srgbClr val="FFFFFF"/>
              </a:buClr>
              <a:buFont typeface="Wingdings" panose="05000000000000000000" pitchFamily="2" charset="2"/>
              <a:buChar char="q"/>
            </a:pPr>
            <a:r>
              <a:rPr lang="en-US" sz="1600" b="1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Visualizations: </a:t>
            </a:r>
            <a:r>
              <a:rPr lang="en-US" sz="1600" kern="0" dirty="0">
                <a:solidFill>
                  <a:srgbClr val="FFFFFF"/>
                </a:solidFill>
                <a:latin typeface="Onest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 clouds, interactive dashboards, and deeper analytics to help you see patterns at a glance.</a:t>
            </a:r>
            <a:endParaRPr lang="en-US" sz="16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940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conomic Impact of Radium by Slidesgo">
  <a:themeElements>
    <a:clrScheme name="Simple Light">
      <a:dk1>
        <a:srgbClr val="FFFFFF"/>
      </a:dk1>
      <a:lt1>
        <a:srgbClr val="000000"/>
      </a:lt1>
      <a:dk2>
        <a:srgbClr val="85D8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</TotalTime>
  <Words>531</Words>
  <Application>Microsoft Office PowerPoint</Application>
  <PresentationFormat>Widescreen</PresentationFormat>
  <Paragraphs>139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Manrope</vt:lpstr>
      <vt:lpstr>Manrope SemiBold</vt:lpstr>
      <vt:lpstr>Nunito Light</vt:lpstr>
      <vt:lpstr>Onest</vt:lpstr>
      <vt:lpstr>Open Sans Light</vt:lpstr>
      <vt:lpstr>Wingdings</vt:lpstr>
      <vt:lpstr>Economic Impact of Radium by Slidesgo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Roopesh Ranjan</cp:lastModifiedBy>
  <cp:revision>20</cp:revision>
  <cp:lastPrinted>2025-01-30T13:52:09Z</cp:lastPrinted>
  <dcterms:created xsi:type="dcterms:W3CDTF">2025-01-27T19:27:51Z</dcterms:created>
  <dcterms:modified xsi:type="dcterms:W3CDTF">2025-01-30T14:24:48Z</dcterms:modified>
</cp:coreProperties>
</file>